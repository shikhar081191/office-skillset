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4713"/>
                </a:solidFill>
              </a:rPr>
              <a:t>Prepared from q2_model_review_brief.docx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Source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Q2 2025 Credit Model Review — Decision Briefing
•  For: Credit Risk Committee  |  24 May 2025  |  Prepared by: Credit Risk Modelling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The Credit Risk Modelling team recommends approval of Credit Model v3 for full production deployment in Q3
•  2025. The new model delivers an 18 percentage point improvement in PMSE on the holdout validation set, passes
•  all regulatory stress tests, and has received independent model validation sign-off from Accenture Risk
•  Advisory on 14 May 2025. A 90-day parallel run against live book positions confirms no material change to
•  capital requirements. The primary residual risk is vintage-level drift in the short-duration cohort, mitigated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by a monthly monitoring protocol agreed with the model risk team.
•  Management recommendation: Approve Credit Model v3. Target regulatory submission 28 May and go-live August
• 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Today's committee meeting covers five areas.
•  1. Executive Summary — Recommendation and key findings
•  2. Model Performance — Quantitative results and holdout validation
•  3. Stress Testing and Assumptions — Macro scenario parameters
•  4. Implementation Plan — Go-live timeline and resource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5. Appendix — Methodology and supporting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Q2 Performance Snapshot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Six key metrics summarise Q2 2025 model and portfolio performance vs prior quarter.
•  PMSE (holdout, Model v3): 0.046 — down from 0.060 baseline, improvement of 23%
•  Sharpe Ratio: 1.18 — up 0.08 vs Q1 2025
•  AUM covered: $4.7 billion
•  Model coverage: 98.3% of live positions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Q2 Performance Snapshot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Information Ratio: 0.71
•  Stress test pass rate: 100% across all macro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Programme Status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Six workstreams are tracked on the path to production deployment.
•  Model Development: Complete. Credit Model v3 signed off by internal validation on 28 April 2025. All factor
•  specifications finalised.
•  Independent Validation: Complete. External validator Accenture confirmed sign-off 14 May 2025 following
•  four-week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Programme Status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Regulatory Submission: In progress. MRM submission package drafted; awaiting legal review sign-off expected 28
•  May.
•  Technology Integration: At risk. Two-week delay caused by API versioning incompatibility with core banking
•  system. Vendor patch in testing.
•  Parallel Run: Complete. 90-day parallel run ended 10 May. All cohort results within agreed tolerance bands.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Programme Status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Documentation: In progress. Model card and user guide 80% complete. Target sign-off 7 June ahead of go-live.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PMSE by model version and maturity cohort on the out-of-time holdout set (January–March 2025).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Plan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The implementation follows a six-milestone schedule from model completion to full production go-live.
•  February 2025: Model development complete — all factor specifications finalised and version-controlled.
•  March 2025: Internal validation sign-off — passed all internal Model Risk Management criteria.
•  May 2025: External validation sign-off — Accenture confirmed; current milestone reached.
•  June 2025: Regulatory submission — MRM package submitted to PRA under SS1/23 requirements.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Plan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July 2025: Technology integration — API migration, UAT and user acceptance sign-off complete.
•  August 2025: Production go-live — Model v3 active across all credit portfolios.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Stress Test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Model validated against a 1-in-20 adverse macro scenario. Assumptions represent a coherent stress, not
•  individual extremes.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Factor Return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Q2 2025 return attribution by risk factor, comparing Model v2 and Model v3 contributions in basis points.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Historical PMSE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•  Rolling quarterly PMSE for Model v2 and Model v3 over the 2023–2025 parallel run period. Lower is better.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Finding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Bills and short-duration instruments drive almost all of the PMSE improvement. The model's treatment of
•  prepayment risk and vintage effects in the short-duration cohort explains 72% of the total PMSE gain —
•  equivalent to 14 percentage points of the 18pp total improvement. The remaining 4pp comes from improved credit
•  spread factor specification in the medium and long maturity cohorts. External validation using an independent
•  data panel (January 2020 – December 2024) confirms the finding is robust to different time periods.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Finding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Short cohort PMSE reduced by 35%: from 0.048 to 0.031
•  Vintage effect accounts for 72% of the total PMSE gain across all cohorts
•  External validation on independent panel confirms finding holds out-of-sample
•  Stress test capital impact: immaterial — within tolerance agreed with PRA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Risk Prioritisation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Four risks require committee attention, assessed by potential impact and resolution urgency.
•  API versioning delay: High impact, High urgency. Two-week delay on technology integration. Extended parallel
•  run covers any gap.
•  Vintage drift monitoring: High impact, Low urgency. Post-launch monthly monitoring protocol agreed.
•  Recalibration triggers if 5% threshold breached.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Risk Prioritisation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•  User training coverage: Medium impact, Medium urgency. Three workshops scheduled June. All users trained
•  before go-live.
•  Documentation completeness: Low impact, Low urgency. Model card 80% done. No blocker to go-live; can complete
•  post-launch.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Source Data: Table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307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7320" y="841248"/>
            <a:ext cx="307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5800" y="841248"/>
            <a:ext cx="307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24787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Short (&lt;1Y)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280160"/>
            <a:ext cx="3051048" cy="1172718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7247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27320" y="1280160"/>
            <a:ext cx="3051048" cy="1172718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7320" y="17247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5800" y="1280160"/>
            <a:ext cx="3051048" cy="1172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5800" y="17247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924937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Medium (1-5Y)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480310"/>
            <a:ext cx="3051048" cy="117271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9249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7320" y="2480310"/>
            <a:ext cx="3051048" cy="1172718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7320" y="29249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5800" y="2480310"/>
            <a:ext cx="3051048" cy="1172718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9249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125087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Long (&gt;5Y)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680460"/>
            <a:ext cx="3051048" cy="117271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1250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680460"/>
            <a:ext cx="3051048" cy="1172718"/>
          </a:xfrm>
          <a:prstGeom prst="rect">
            <a:avLst/>
          </a:prstGeom>
          <a:noFill/>
          <a:ln w="254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27320" y="3680460"/>
            <a:ext cx="3051048" cy="1172718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7320" y="41250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05800" y="3680460"/>
            <a:ext cx="3051048" cy="1172718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5800" y="412508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325237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All Cohorts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4880610"/>
            <a:ext cx="3051048" cy="1172718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3252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7320" y="4880610"/>
            <a:ext cx="3051048" cy="117271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27320" y="53252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5800" y="4880610"/>
            <a:ext cx="3051048" cy="1172718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5325237"/>
            <a:ext cx="3051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Source Data: Table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70432"/>
          <a:ext cx="11247120" cy="552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999232"/>
                <a:gridCol w="2999232"/>
                <a:gridCol w="2999232"/>
              </a:tblGrid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GDP growth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IMF WEO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Rate path (10Y UST)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+75bps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Fed dots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IG spread widening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+120bps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Equity drawdown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-20%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Internal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889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FX (EURUSD)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Bloomberg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9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Recovery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S&amp;P LossStats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Source Data: Table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v2 (bps)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4124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v3 (bps)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60477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Equity Beta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80160"/>
            <a:ext cx="4590288" cy="932688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60477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280160"/>
            <a:ext cx="4590288" cy="93268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0477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280160"/>
            <a:ext cx="4590288" cy="932688"/>
          </a:xfrm>
          <a:prstGeom prst="rect">
            <a:avLst/>
          </a:prstGeom>
          <a:noFill/>
          <a:ln w="254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56489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Duration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240280"/>
            <a:ext cx="4590288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56489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-12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240280"/>
            <a:ext cx="4590288" cy="9326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56489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52501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Credit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3200400"/>
            <a:ext cx="4590288" cy="932688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52501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200400"/>
            <a:ext cx="4590288" cy="932688"/>
          </a:xfrm>
          <a:prstGeom prst="rect">
            <a:avLst/>
          </a:prstGeom>
          <a:solidFill>
            <a:srgbClr val="63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52501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48513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FX Carry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160520"/>
            <a:ext cx="4590288" cy="932688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48513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160520"/>
            <a:ext cx="4590288" cy="932688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48513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445252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Residual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5120640"/>
            <a:ext cx="4590288" cy="9326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544525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5120640"/>
            <a:ext cx="4590288" cy="932688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5445252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-2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</a:rPr>
              <a:t>Source Data: Table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6576"/>
          </a:xfrm>
          <a:prstGeom prst="rect">
            <a:avLst/>
          </a:prstGeom>
          <a:solidFill>
            <a:srgbClr val="FF4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84124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</a:rPr>
              <a:t>Model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24749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Q3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80160"/>
            <a:ext cx="4590288" cy="572643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42474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280160"/>
            <a:ext cx="4590288" cy="572643"/>
          </a:xfrm>
          <a:prstGeom prst="rect">
            <a:avLst/>
          </a:prstGeom>
          <a:noFill/>
          <a:ln w="254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280160"/>
            <a:ext cx="4590288" cy="572643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2474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24824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Q4 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880235"/>
            <a:ext cx="4590288" cy="572643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02482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880235"/>
            <a:ext cx="4590288" cy="572643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02482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624899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Q1 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480310"/>
            <a:ext cx="4590288" cy="572643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262489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480310"/>
            <a:ext cx="4590288" cy="572643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62489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224974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Q2 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080385"/>
            <a:ext cx="4590288" cy="572643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322497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080385"/>
            <a:ext cx="4590288" cy="572643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22497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825049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Q3 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680460"/>
            <a:ext cx="4590288" cy="572643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382504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680460"/>
            <a:ext cx="4590288" cy="572643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2504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25124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Q4 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4280535"/>
            <a:ext cx="4590288" cy="572643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442512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280535"/>
            <a:ext cx="4590288" cy="57264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442512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025199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Q1 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4880610"/>
            <a:ext cx="4590288" cy="572643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48840" y="502519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4880610"/>
            <a:ext cx="4590288" cy="57264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5025199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625274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Q2 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5480685"/>
            <a:ext cx="4590288" cy="572643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562527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0.06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5480685"/>
            <a:ext cx="4590288" cy="572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5625274"/>
            <a:ext cx="4590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0.05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