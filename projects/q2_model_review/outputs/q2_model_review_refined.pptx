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v2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Equity Beta</c:v>
                </c:pt>
                <c:pt idx="1">
                  <c:v>Duration</c:v>
                </c:pt>
                <c:pt idx="2">
                  <c:v>Credit</c:v>
                </c:pt>
                <c:pt idx="3">
                  <c:v>FX Carry</c:v>
                </c:pt>
                <c:pt idx="4">
                  <c:v>Residual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28.0</c:v>
                </c:pt>
                <c:pt idx="1">
                  <c:v>-12.0</c:v>
                </c:pt>
                <c:pt idx="2">
                  <c:v>15.0</c:v>
                </c:pt>
                <c:pt idx="3">
                  <c:v>6.0</c:v>
                </c:pt>
                <c:pt idx="4">
                  <c:v>-4.0</c:v>
                </c:pt>
              </c:numCache>
            </c:numRef>
          </c:val>
          <c:spPr>
            <a:solidFill>
              <a:srgbClr val="FF4713"/>
            </a:solidFill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Equity Beta</c:v>
                </c:pt>
                <c:pt idx="1">
                  <c:v>Duration</c:v>
                </c:pt>
                <c:pt idx="2">
                  <c:v>Credit</c:v>
                </c:pt>
                <c:pt idx="3">
                  <c:v>FX Carry</c:v>
                </c:pt>
                <c:pt idx="4">
                  <c:v>Residual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32.0</c:v>
                </c:pt>
                <c:pt idx="1">
                  <c:v>-8.0</c:v>
                </c:pt>
                <c:pt idx="2">
                  <c:v>18.0</c:v>
                </c:pt>
                <c:pt idx="3">
                  <c:v>6.0</c:v>
                </c:pt>
                <c:pt idx="4">
                  <c:v>-2.0</c:v>
                </c:pt>
              </c:numCache>
            </c:numRef>
          </c:val>
          <c:spPr>
            <a:solidFill>
              <a:srgbClr val="000000"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v2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Q3 23</c:v>
                </c:pt>
                <c:pt idx="1">
                  <c:v>Q4 23</c:v>
                </c:pt>
                <c:pt idx="2">
                  <c:v>Q1 24</c:v>
                </c:pt>
                <c:pt idx="3">
                  <c:v>Q2 24</c:v>
                </c:pt>
                <c:pt idx="4">
                  <c:v>Q3 24</c:v>
                </c:pt>
                <c:pt idx="5">
                  <c:v>Q4 24</c:v>
                </c:pt>
                <c:pt idx="6">
                  <c:v>Q1 25</c:v>
                </c:pt>
                <c:pt idx="7">
                  <c:v>Q2 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0.065</c:v>
                </c:pt>
                <c:pt idx="1">
                  <c:v>0.063</c:v>
                </c:pt>
                <c:pt idx="2">
                  <c:v>0.061</c:v>
                </c:pt>
                <c:pt idx="3">
                  <c:v>0.06</c:v>
                </c:pt>
                <c:pt idx="4">
                  <c:v>0.062</c:v>
                </c:pt>
                <c:pt idx="5">
                  <c:v>0.061</c:v>
                </c:pt>
                <c:pt idx="6">
                  <c:v>0.06</c:v>
                </c:pt>
                <c:pt idx="7">
                  <c:v>0.06</c:v>
                </c:pt>
              </c:numCache>
            </c:numRef>
          </c:val>
          <c:smooth val="0"/>
          <c:spPr>
            <a:ln>
              <a:solidFill>
                <a:srgbClr val="666666"/>
              </a:solidFill>
            </a:ln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Q3 23</c:v>
                </c:pt>
                <c:pt idx="1">
                  <c:v>Q4 23</c:v>
                </c:pt>
                <c:pt idx="2">
                  <c:v>Q1 24</c:v>
                </c:pt>
                <c:pt idx="3">
                  <c:v>Q2 24</c:v>
                </c:pt>
                <c:pt idx="4">
                  <c:v>Q3 24</c:v>
                </c:pt>
                <c:pt idx="5">
                  <c:v>Q4 24</c:v>
                </c:pt>
                <c:pt idx="6">
                  <c:v>Q1 25</c:v>
                </c:pt>
                <c:pt idx="7">
                  <c:v>Q2 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0.058</c:v>
                </c:pt>
                <c:pt idx="1">
                  <c:v>0.055</c:v>
                </c:pt>
                <c:pt idx="2">
                  <c:v>0.052</c:v>
                </c:pt>
                <c:pt idx="3">
                  <c:v>0.049</c:v>
                </c:pt>
                <c:pt idx="4">
                  <c:v>0.048</c:v>
                </c:pt>
                <c:pt idx="5">
                  <c:v>0.047</c:v>
                </c:pt>
                <c:pt idx="6">
                  <c:v>0.047</c:v>
                </c:pt>
                <c:pt idx="7">
                  <c:v>0.046</c:v>
                </c:pt>
              </c:numCache>
            </c:numRef>
          </c:val>
          <c:smooth val="0"/>
          <c:spPr>
            <a:ln>
              <a:solidFill>
                <a:srgbClr val="FF4713"/>
              </a:solidFill>
            </a:ln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technology delay does not affect go-live date: the parallel run buffer absorbs it. Anticipated question: 'Is the capital impact really immaterial?' — yes, PRA threshold is 5% and we are at 0.3%.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integration (red): vendor has a patch in testing. Current ETA is +2 weeks but the parallel run buffer means go-live is still August. IT lead will present an update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Q2 2025 Credit Model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4713"/>
                </a:solidFill>
              </a:rPr>
              <a:t>Credit Risk Committee  |  24 May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Five sections: summary decision, model evidence, stress scenarios, implementation timeline, and supporting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475488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0700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64592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Recommendation and 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475488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07568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51460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Quantitative results and holdout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53511"/>
            <a:ext cx="475488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7179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94436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Stress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383279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Macro scenario assumptions and sensitivities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22191"/>
            <a:ext cx="475488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381304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Implementation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2519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Go-live timeline and workstream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90872"/>
            <a:ext cx="475488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68172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</a:rPr>
              <a:t>Appendix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12064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Methodology and supporting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EEEE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943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Credit Model v3 -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25880"/>
            <a:ext cx="448056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Approve Credit Model v3 for full production deployment in Q3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256032"/>
            <a:ext cx="6217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Evidence supports committee approval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96012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307592"/>
            <a:ext cx="621792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•  PMSE improved 18pp on holdout versus Model v2
•  Independent validation confirmed on 14 May 2025
•  90-day parallel run shows immaterial capital impact
•  All six regulatory stress scenarios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4937760"/>
            <a:ext cx="621792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501091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33D3D"/>
                </a:solidFill>
              </a:rPr>
              <a:t>CAVEATS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5358384"/>
            <a:ext cx="62179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•  Technology integration is delayed; August go-live remains achievable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Q2 2025 - Portfolio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All six headline metrics are positive vs prior quarter; PMSE improved 23% vs the v2 baseline.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15773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" y="17419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PMSE (HOLDOUT)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" y="210769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0.046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32415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^ -23% vs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1396" y="15773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4276" y="17419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SHARPE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4276" y="210769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1.18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276" y="32415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^ +0.08 vs 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6156" y="15773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9036" y="17419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AUM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036" y="210769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$4.7B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036" y="32415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</a:rPr>
              <a:t>-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" y="40919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" y="42565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MODEL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" y="46222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98.3%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" y="57561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</a:rPr>
              <a:t>-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1396" y="40919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4276" y="42565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INFO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4276" y="46222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0.71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4276" y="57561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</a:rPr>
              <a:t>-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6156" y="4091939"/>
            <a:ext cx="35661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9036" y="425653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</a:rPr>
              <a:t>STRESS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036" y="46222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036" y="57561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^ All 6 scenarios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733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Source: Credit Risk Modelling Team, Q2 2025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Programme Status - Path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4 of 6 workstreams complete; technology integration at risk but go-live date remains August 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40096" y="126187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1261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207008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Model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Complete; v3 signed off 28 Apr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097280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097280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1128" y="126187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16768" y="1261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207008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Independent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691640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Complete; Accenture sign-off 14 May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52928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52928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40096" y="3017520"/>
            <a:ext cx="256032" cy="256032"/>
          </a:xfrm>
          <a:prstGeom prst="ellipse">
            <a:avLst/>
          </a:prstGeom>
          <a:solidFill>
            <a:srgbClr val="D2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5736" y="30175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2962656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Regulatory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447288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In progress; legal review by 28 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2852928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2852928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11128" y="3017520"/>
            <a:ext cx="256032" cy="256032"/>
          </a:xfrm>
          <a:prstGeom prst="ellipse">
            <a:avLst/>
          </a:prstGeom>
          <a:solidFill>
            <a:srgbClr val="C3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16768" y="30175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962656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Technology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447288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At risk; API patch in vendor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08576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08576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40096" y="477316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47731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CRM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4718304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Parallel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5202936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Complete; all cohorts within tolerance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6792" y="4608576"/>
            <a:ext cx="5394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36792" y="4608576"/>
            <a:ext cx="64008" cy="1554480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11128" y="4773168"/>
            <a:ext cx="256032" cy="256032"/>
          </a:xfrm>
          <a:prstGeom prst="ellipse">
            <a:avLst/>
          </a:prstGeom>
          <a:solidFill>
            <a:srgbClr val="D2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47731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</a:rPr>
              <a:t>CRM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718304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5202936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80% complete; sign-off target 7 Jun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PMSE by Model Version and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Model v3 outperforms v2 by 23% PMSE across all maturity cohorts; sharpest gain in the short-duration segment.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17904"/>
          <a:ext cx="11247120" cy="5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999232"/>
                <a:gridCol w="2999232"/>
                <a:gridCol w="2999232"/>
              </a:tblGrid>
              <a:tr h="10351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Cohort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 v1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 v2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 v3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0351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Short (&lt;1Y)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0.078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0.031</a:t>
                      </a:r>
                    </a:p>
                  </a:txBody>
                  <a:tcPr>
                    <a:solidFill>
                      <a:srgbClr val="D9E8DA"/>
                    </a:solidFill>
                  </a:tcPr>
                </a:tc>
              </a:tr>
              <a:tr h="10351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Medium (1-5Y)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0.085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0.049</a:t>
                      </a:r>
                    </a:p>
                  </a:txBody>
                  <a:tcPr>
                    <a:solidFill>
                      <a:srgbClr val="D9E8DA"/>
                    </a:solidFill>
                  </a:tcPr>
                </a:tc>
              </a:tr>
              <a:tr h="10351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Long (&gt;5Y)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0.091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0.058</a:t>
                      </a:r>
                    </a:p>
                  </a:txBody>
                  <a:tcPr>
                    <a:solidFill>
                      <a:srgbClr val="D9E8DA"/>
                    </a:solidFill>
                  </a:tcPr>
                </a:tc>
              </a:tr>
              <a:tr h="10351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All Cohorts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0.084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0.046</a:t>
                      </a:r>
                    </a:p>
                  </a:txBody>
                  <a:tcPr>
                    <a:solidFill>
                      <a:srgbClr val="D9E8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3733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Source: Out-of-time holdout set, Jan-Mar 2025. Lower PMSE =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Factor Return Attribution - Q2 2025 (bps)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v3 improves on equity beta and credit; duration drag is smaller and residual noise is reduced.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188720"/>
          <a:ext cx="10789920" cy="5166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3733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Source: MSCI Barra. Gross of fees. Figures in basis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PMSE Trend - Parallel Run Period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v3 PMSE has declined every quarter; v2 has plateaued since Q3 2023 — the gap is structural, not cyclical.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188720"/>
          <a:ext cx="10789920" cy="5166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3733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Lower PMSE = better. 90-day parallel run, Jan 2023 - May 2025. Source: CRM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Stress Scenario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GDP and rate path are the high-sensitivity inputs; the model passed all six macro scenarios.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70432"/>
          <a:ext cx="10789917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579"/>
                <a:gridCol w="2538804"/>
                <a:gridCol w="2266789"/>
                <a:gridCol w="1450745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GDP growth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IMF WEO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33D3D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Rate path (10Y UST)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+75bps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Fed dots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33D3D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IG spread widening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+120bps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28B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Equity drawdown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-20%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33D3D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FX (EURUSD)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Bloomberg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D32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Recovery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S&amp;P LossStats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D28B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3733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1-in-20 adverse scenario. Not a point forecast. Coherent stress, not individual extremes.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Implementation Plan - Credit Model v3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On current milestone (May); three steps remain and go-live is confirmed for August 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105156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8" y="3392424"/>
            <a:ext cx="54864" cy="2560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3447288"/>
            <a:ext cx="201168" cy="20116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414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Feb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2304288"/>
            <a:ext cx="18288" cy="1216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8648" y="3392424"/>
            <a:ext cx="54864" cy="2560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25496" y="3447288"/>
            <a:ext cx="201168" cy="20116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39" y="4069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Internal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39" y="47091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Mar 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16936" y="3575304"/>
            <a:ext cx="18288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1768" y="3328416"/>
            <a:ext cx="54864" cy="384048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55464" y="3374136"/>
            <a:ext cx="347472" cy="347472"/>
          </a:xfrm>
          <a:prstGeom prst="ellipse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3168" y="3291839"/>
            <a:ext cx="512064" cy="512064"/>
          </a:xfrm>
          <a:prstGeom prst="ellipse">
            <a:avLst/>
          </a:prstGeom>
          <a:noFill/>
          <a:ln w="25400">
            <a:solidFill>
              <a:srgbClr val="FF4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External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4414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May 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0056" y="2304288"/>
            <a:ext cx="18288" cy="1216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3392424"/>
            <a:ext cx="54864" cy="256032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13448" y="3429000"/>
            <a:ext cx="237744" cy="237744"/>
          </a:xfrm>
          <a:prstGeom prst="ellipse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4069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Regulatory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7091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Jun 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3176" y="3575304"/>
            <a:ext cx="18288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08008" y="3392424"/>
            <a:ext cx="54864" cy="256032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16567" y="3429000"/>
            <a:ext cx="237744" cy="237744"/>
          </a:xfrm>
          <a:prstGeom prst="ellipse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Tech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4414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Jul 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304288"/>
            <a:ext cx="18288" cy="1216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11128" y="3392424"/>
            <a:ext cx="54864" cy="256032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19688" y="3429000"/>
            <a:ext cx="237744" cy="237744"/>
          </a:xfrm>
          <a:prstGeom prst="ellipse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4069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Production Go-Live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7091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Aug 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29416" y="3575304"/>
            <a:ext cx="18288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286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EEEE"/>
                </a:solidFill>
              </a:rPr>
              <a:t>CORE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Bills drive 72% of the PMSE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2560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Short-duration vintage treatment explains the majority of the gain; external validation confirms it is not period-specific.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9326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5312" y="1444752"/>
            <a:ext cx="64008" cy="658368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3716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-35%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408176"/>
            <a:ext cx="4279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PMSE in short-duration cohort: 0.048 to 0.031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2770632"/>
            <a:ext cx="64008" cy="658368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69748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734056"/>
            <a:ext cx="4279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Of total gain from vintage and prepayment factor treatment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25312" y="4096512"/>
            <a:ext cx="64008" cy="658368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40233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4pp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059936"/>
            <a:ext cx="4279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Additional gain from credit spread factor, medium and long cohorts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5422392"/>
            <a:ext cx="64008" cy="658368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534924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5385816"/>
            <a:ext cx="4279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External panel (Jan 2020-Dec 2024) validates finding out-of-sample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63733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</a:rPr>
              <a:t>Source: Accenture independent validation report, 14 May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Implementation Risk Prioritisation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API delay is the only high-urgency risk; it is mitigated and the remaining three risks are manageable.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152144"/>
            <a:ext cx="4732020" cy="24871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0779" y="1152144"/>
            <a:ext cx="4732020" cy="2487168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08760" y="3639312"/>
            <a:ext cx="4732020" cy="2487168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779" y="3639312"/>
            <a:ext cx="4732020" cy="24871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0779" y="1152144"/>
            <a:ext cx="22860" cy="497433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8760" y="3639312"/>
            <a:ext cx="9464040" cy="228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6190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Low 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190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High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1338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High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58704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Low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7740" y="6190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3383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6312" y="1700052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4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0320" y="175491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API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0320" y="202923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Mitigated by parallel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89327" y="1799539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4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3335" y="1854403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Vintage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335" y="2128723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Monthly monitoring agreed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7100" y="3391326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4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71108" y="3446190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Training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1108" y="3720510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3 workshops in June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9327" y="4883627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4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3335" y="4938491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Doc 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335" y="5212811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Post-launch completion 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