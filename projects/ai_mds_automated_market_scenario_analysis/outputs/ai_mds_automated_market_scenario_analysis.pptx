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MDS — Automated Market 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A simple, visual opener for a junior analyst audience.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36776"/>
            <a:ext cx="3624072" cy="49469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36776"/>
            <a:ext cx="3624072" cy="9144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325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93976"/>
            <a:ext cx="3258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42616"/>
            <a:ext cx="3258312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A system that turns a plain-English market event into a portfolio impact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2440" y="1636776"/>
            <a:ext cx="3624072" cy="49469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2440" y="1636776"/>
            <a:ext cx="3624072" cy="9144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5320" y="1801368"/>
            <a:ext cx="325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WHO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5320" y="2093976"/>
            <a:ext cx="3258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Who it's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5320" y="2642616"/>
            <a:ext cx="3258312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Junior analysts and portfolio teams with no prior risk or portfolio modelling background.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680" y="1636776"/>
            <a:ext cx="3624072" cy="49469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636776"/>
            <a:ext cx="3624072" cy="9144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60" y="1801368"/>
            <a:ext cx="325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093976"/>
            <a:ext cx="3258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2642616"/>
            <a:ext cx="3258312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Faster answers, consistent assumptions, and audit-ready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the old market shock process is too slow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212080" cy="5349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3152" cy="534924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A small market shock can take weeks to analyse.
Economists and risk teams debate the scenario, choose drivers, and estimate impacts manually.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5577840" cy="5349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73152" cy="534924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481328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The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057400"/>
            <a:ext cx="52578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By the time the answer arrives, the market has already moved.
That leaves portfolio managers with outdated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2860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D2BD"/>
                </a:solidFill>
              </a:rPr>
              <a:t>WHAT AI MDS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It turns a plain-English market story into a portfolio impact check 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25603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The system is automated, but the user still gets a clear workflow and fast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93268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6070"/>
                </a:solidFill>
              </a:rPr>
              <a:t>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25312" y="1444752"/>
            <a:ext cx="64008" cy="658368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081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It reads the market situation the way a colleague would explain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25312" y="2816352"/>
            <a:ext cx="64008" cy="658368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7797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It finds the relevant risk factors and estimates how much each one moves.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4187952"/>
            <a:ext cx="64008" cy="658368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1513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It runs those shocks through the portfolio model and shows the expected P&amp;L.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Five steps in the AI MDS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1956815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1956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7739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5568"/>
                </a:solidFill>
              </a:rPr>
              <a:t>Read the situation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7739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E6070"/>
                </a:solidFill>
              </a:rPr>
              <a:t>Turn plain English into a structured scenario.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22575" y="3108960"/>
            <a:ext cx="411480" cy="274320"/>
          </a:xfrm>
          <a:prstGeom prst="right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34056" y="1600200"/>
            <a:ext cx="1956815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4056" y="1783080"/>
            <a:ext cx="1956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2606040"/>
            <a:ext cx="17739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5568"/>
                </a:solidFill>
              </a:rPr>
              <a:t>Check similar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3200400"/>
            <a:ext cx="17739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E6070"/>
                </a:solidFill>
              </a:rPr>
              <a:t>Find past episodes as a plausibility check.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90871" y="3108960"/>
            <a:ext cx="411480" cy="274320"/>
          </a:xfrm>
          <a:prstGeom prst="right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02352" y="1600200"/>
            <a:ext cx="1956815" cy="3291840"/>
          </a:xfrm>
          <a:prstGeom prst="rect">
            <a:avLst/>
          </a:prstGeom>
          <a:solidFill>
            <a:srgbClr val="0D1B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1783080"/>
            <a:ext cx="1956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E9B00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606040"/>
            <a:ext cx="17739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Pick the factors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3200400"/>
            <a:ext cx="17739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D2BD"/>
                </a:solidFill>
              </a:rPr>
              <a:t>Choose the risk drivers the scenario actually moves.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59168" y="3108960"/>
            <a:ext cx="411480" cy="274320"/>
          </a:xfrm>
          <a:prstGeom prst="right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1600200"/>
            <a:ext cx="1956815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1783080"/>
            <a:ext cx="1956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606040"/>
            <a:ext cx="17739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5568"/>
                </a:solidFill>
              </a:rPr>
              <a:t>Estimate shocks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3200400"/>
            <a:ext cx="17739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E6070"/>
                </a:solidFill>
              </a:rPr>
              <a:t>Set how much each chosen factor should move.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27463" y="3108960"/>
            <a:ext cx="411480" cy="274320"/>
          </a:xfrm>
          <a:prstGeom prst="right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38944" y="1600200"/>
            <a:ext cx="1956815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38944" y="1783080"/>
            <a:ext cx="1956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2606040"/>
            <a:ext cx="17739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5568"/>
                </a:solidFill>
              </a:rPr>
              <a:t>Calculate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0384" y="3200400"/>
            <a:ext cx="17739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E6070"/>
                </a:solidFill>
              </a:rPr>
              <a:t>Run the shocks through the portfolio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Human oversight is built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52728"/>
            <a:ext cx="3624072" cy="53309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3624072" cy="9144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5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9928"/>
            <a:ext cx="3258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Expert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3258312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A risk expert checks the scenario, factor choices, and shock estimates at every step.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2440" y="1252728"/>
            <a:ext cx="3624072" cy="53309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2440" y="1252728"/>
            <a:ext cx="3624072" cy="9144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5320" y="1417320"/>
            <a:ext cx="325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ADJUST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5320" y="1709928"/>
            <a:ext cx="3258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Override when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5320" y="2258568"/>
            <a:ext cx="3258312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The expert can change the machine output and explain why the change was made.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1252728"/>
            <a:ext cx="3624072" cy="53309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7680" y="1252728"/>
            <a:ext cx="3624072" cy="9144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1417320"/>
            <a:ext cx="325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560" y="1709928"/>
            <a:ext cx="3258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Record every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258568"/>
            <a:ext cx="3258312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The system stores overrides and notes, so every decision is visible and auditable.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Who is making AI MDS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52728"/>
            <a:ext cx="3624072" cy="53309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3624072" cy="9144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5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9928"/>
            <a:ext cx="3258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Architecture &amp; modelling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3258312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Design the pipeline, build the statistical models, and make the outputs reliable.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2440" y="1252728"/>
            <a:ext cx="3624072" cy="53309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2440" y="1252728"/>
            <a:ext cx="3624072" cy="9144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5320" y="1417320"/>
            <a:ext cx="325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5320" y="1709928"/>
            <a:ext cx="3258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RQA business owners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5320" y="2258568"/>
            <a:ext cx="3258312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Shape requirements every two weeks and validate the system with real user needs.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1252728"/>
            <a:ext cx="3624072" cy="533095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7680" y="1252728"/>
            <a:ext cx="3624072" cy="91440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1417320"/>
            <a:ext cx="3258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560" y="1709928"/>
            <a:ext cx="3258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Analytics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258568"/>
            <a:ext cx="3258312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Deploy the UI and infrastructure so the system is stable and accessible.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Where we are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The full pipeline and UI are live now; broader testing and production rollout are planned for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1051560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8" y="3328416"/>
            <a:ext cx="54864" cy="384048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9224" y="3374136"/>
            <a:ext cx="347472" cy="347472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3291839"/>
            <a:ext cx="512064" cy="512064"/>
          </a:xfrm>
          <a:prstGeom prst="ellipse">
            <a:avLst/>
          </a:prstGeom>
          <a:noFill/>
          <a:ln w="25400">
            <a:solidFill>
              <a:srgbClr val="0A9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5568"/>
                </a:solidFill>
              </a:rPr>
              <a:t>Prototype works end to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4144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E6070"/>
                </a:solidFill>
              </a:rPr>
              <a:t>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2304288"/>
            <a:ext cx="18288" cy="1216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53328" y="3392424"/>
            <a:ext cx="54864" cy="256032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61888" y="3429000"/>
            <a:ext cx="237744" cy="237744"/>
          </a:xfrm>
          <a:prstGeom prst="ellipse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4069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</a:rPr>
              <a:t>RQA beta testing begins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70916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E6070"/>
                </a:solidFill>
              </a:rPr>
              <a:t>Mid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3575304"/>
            <a:ext cx="18288" cy="4937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11128" y="3392424"/>
            <a:ext cx="54864" cy="256032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19688" y="3429000"/>
            <a:ext cx="237744" cy="237744"/>
          </a:xfrm>
          <a:prstGeom prst="ellipse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2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</a:rPr>
              <a:t>Full production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244144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E6070"/>
                </a:solidFill>
              </a:rPr>
              <a:t>H2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329416" y="2304288"/>
            <a:ext cx="18288" cy="1216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2860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D2BD"/>
                </a:solidFill>
              </a:rPr>
              <a:t>WHY GOVERNANCE AND AUDIT MATTER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 consistent process, documented assumptions, and logged overrides make AI MDS reliable for the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25603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Speed is important, but the deeper value is consistency, transparency, and auditability.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93268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6070"/>
                </a:solidFill>
              </a:rPr>
              <a:t>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25312" y="1444752"/>
            <a:ext cx="64008" cy="658368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081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Every scenario goes through the same structured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25312" y="2816352"/>
            <a:ext cx="64008" cy="658368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7797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Every assumption and override is recorded for later review.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4187952"/>
            <a:ext cx="64008" cy="658368"/>
          </a:xfrm>
          <a:prstGeom prst="rect">
            <a:avLst/>
          </a:prstGeom>
          <a:solidFill>
            <a:srgbClr val="EE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1513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That frees experts to focus on judgement instead of mechanical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